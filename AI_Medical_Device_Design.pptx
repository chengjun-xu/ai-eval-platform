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36576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9728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82880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256032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29184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402336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21792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4944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768096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412480" y="502920"/>
            <a:ext cx="73152" cy="73152"/>
          </a:xfrm>
          <a:prstGeom prst="ellipse">
            <a:avLst/>
          </a:prstGeom>
          <a:solidFill>
            <a:srgbClr val="3B82F6">
              <a:alpha val="4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91440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人工智能医疗器械</a:t>
            </a:r>
            <a:endParaRPr lang="en-US" sz="38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设计开发要点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spc="400" kern="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Medical Device Design &amp; Development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3200400" y="3246120"/>
            <a:ext cx="274320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NMPA《人工智能医疗器械注册审查指导原则》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目录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914400"/>
            <a:ext cx="228600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23444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05840" y="1417320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1417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920240" y="13441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人工智能发展和应用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920240" y="170992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人工智能整体发展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AI在医疗器械上的发展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国家政策与纲要时政支持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246888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05840" y="26517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920240" y="257860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法规和监管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920240" y="294436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 NMPA 监管体系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美国 FDA 监管框架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欧盟 MDR+AI Act 监管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通用人工智能与医疗器械 AI 法规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76809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162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005840" y="3886200"/>
            <a:ext cx="640080" cy="64008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920240" y="381304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人工智能医疗器械设计开发要点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920240" y="4178808"/>
            <a:ext cx="59436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全生命周期流程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风险治理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素养要求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人工智能发展和应用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Development · Medical Applications · National Policies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人工智能整体发展历程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594360" y="173736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60020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1956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1148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达特茅斯会议，AI 概念诞生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11680" y="173736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31720" y="160020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3" name="Text 11"/>
          <p:cNvSpPr/>
          <p:nvPr/>
        </p:nvSpPr>
        <p:spPr>
          <a:xfrm>
            <a:off x="187452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深度学习突破（AlexNet）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29000" y="173736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1600200"/>
            <a:ext cx="228600" cy="228600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4612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架构提出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73736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166360" y="160020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70916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66344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中国《新一代人工智能发展规划》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63640" y="173736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583680" y="160020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08076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发布，生成式 AI 爆发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680960" y="1737360"/>
            <a:ext cx="128016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01000" y="1600200"/>
            <a:ext cx="228600" cy="2286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11887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0" y="20116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医疗器械全球获批超 1000 个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292608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中国《新一代人工智能发展规划》"三步走"战略：2020 年与世界同步 → 2025 年部分领先 → 2030 年总体领先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核心产业规模目标：</a:t>
            </a:r>
            <a:endParaRPr lang="en-US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年超 4000 亿元  |  2030 年超 1 万亿元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带动相关产业规模超 10 万亿元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在医疗器械上的七大应用场景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🩻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医学影像诊断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肺结节、乳腺癌、眼底病变等 AI 辅助识别（占比约 40%）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46320" y="105156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💊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486400" y="1005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药物发现与研发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132588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加速靶点发现、分子筛选、临床试验优化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148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008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28016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临床决策支持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基于大模型的辅助诊断和治疗推荐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214884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228600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🧬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5486400" y="22402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基因组学与精准医疗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0" y="25603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分析基因数据指导个体化治疗方案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38328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40080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⌚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28016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远程监测与可穿戴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驱动的健康监测和实时预警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38328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846320" y="352044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手术机器人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379476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辅助手术规划和机器人控制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4617720"/>
            <a:ext cx="39319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0080" y="47548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🏥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1280160" y="4709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医院运营管理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02920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优化诊疗流程和资源调度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全球及中国 AI 医疗器械市场规模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全球市场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年市场规模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~200 亿美元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91840" y="1371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2030 年预测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&gt;1,880 亿美元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14173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(2023-2030)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126480" y="1691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37-42%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2560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中国市场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年市场规模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 亿元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291840" y="30175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29184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2028 年预测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&gt;300 亿元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6126480" y="3017520"/>
            <a:ext cx="256032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126480" y="3063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获批 AI 产品数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3337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&gt;100 个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数据来源：前瞻产业研究院、Frost &amp; Sullivan、NMPA 公开数据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国家政策支持人工智能发展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73152" cy="59436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14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《新一代人工智能发展规划》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914400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国发〔2017〕35 号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85800" y="12070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"三步走"战略，AI 核心产业规模 2030 年超 1 万亿元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664208"/>
            <a:ext cx="73152" cy="5943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66420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十四五规划 &amp; 2035 远景目标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1664208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 年 3 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195681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 AI 关键算法研发，推进智能医疗和健康中国建设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14016"/>
            <a:ext cx="73152" cy="5943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41401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"十四五"医药工业发展规划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291840" y="2414016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工信部联规〔2022〕1 号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85800" y="270662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 AI 在药物研发和医疗器械领域的创新应用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63824"/>
            <a:ext cx="73152" cy="5943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6382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《医疗器械监督管理条例》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3163824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国务院令第 739 号 (2021)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85800" y="34564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 AI 医疗器械注册审批提供法律基础框架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13632"/>
            <a:ext cx="73152" cy="59436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913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场景创新指导意见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291840" y="391363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国科发规〔2022〕199 号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85800" y="420624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 AI 医疗为重点应用场景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习近平关于AI的重要讲话与指示（一）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5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9601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"推动互联网、大数据、人工智能和实体经济深度融合。"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——2017年10月 中国共产党第十九次全国代表大会报告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173736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首次将"人工智能"写入党代会报告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240487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31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2017.07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468880" y="233172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中央深改委审议通过《新一代人工智能发展规划》"三步走"战略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999232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1005840" y="29260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2017.10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468880" y="292608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十九大：AI与实体经济深度融合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3593592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5204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2018.05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68880" y="35204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两院院士大会：AI是"大国竞争的战略制高点"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187952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1148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2018.10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468880" y="411480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政治局第九次集体学习（首次AI专题）：AI是"重要驱动力量"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习近平关于AI的重要讲话与指示（二）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6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 · 头雁效应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25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"人工智能是引领这一轮科技革命和产业变革的战略性技术，具有溢出带动性很强的'头雁'效应。"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2019年8月 世界人工智能大会（WAIC）贺信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914400"/>
            <a:ext cx="393192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 · 城市治理 + AI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3258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"通过大数据、云计算、人工智能等手段推进城市治理现代化，大城市也可以变得更'聪明'。"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37760" y="201168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—— 2020年3月 考察杭州城市大脑运营指挥中心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457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" y="3429000"/>
            <a:ext cx="19659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4564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2019.08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WAIC贺信：AI"头雁效应"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AI对其他技术的牵引带动作用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606040" y="3429000"/>
            <a:ext cx="19659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2697480" y="34564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2020.03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69748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杭州考察：城市大脑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69748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AI赋能城市治理现代化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54880" y="3429000"/>
            <a:ext cx="19659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4846320" y="34564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2020.10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深圳特区40周年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4632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发展AI等新型基础设施建设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903720" y="3429000"/>
            <a:ext cx="1965960" cy="10058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995160" y="3456432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2020.11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95160" y="36576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第三届进博会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995160" y="393192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与各国加强AI前沿领域合作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习近平关于AI的重要讲话与指示（三）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 · 十四五规划开局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"瞄准人工智能、量子信息、集成电路等前沿领域"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中国第一个将AI作为核心发展方向的五年规划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两院院士大会提出"高水平科技自立自强"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393192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 · 二十大报告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937760" y="137160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"构建人工智能等一批新的增长引擎"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从2017年"深度融合" → 2022年"新增长引擎"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战略定位的重大升级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习近平关于AI的重要讲话与指示（四）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 · 里程碑之年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政治局会议：首次提出"通用人工智能（AGI）"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"要重视通用人工智能发展，营造创新生态，重视防范风险"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中央财经委："把握AI新科技革命浪潮"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WAIC贺信："以人为本、智能向善"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"构建开放、公正、有效的AI治理机制"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 · 新质生产力 + 发展与治理并重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政治局学习：AI定位为"新质生产力"核心引擎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全国科技大会：AI是"战略制高点"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WAIC贺信：连续第六年致贺信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二十届三中全会：首次AI发展与治理并重写入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520440"/>
            <a:ext cx="822960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56616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2025-2026：政治局再次专题研究AI发展与安全 | "十五五"规划：AI是"抢占未来竞争优势的战略方向" | AI是"发展新质生产力的核心引擎"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AI战略定位：关键概念演变脉络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05156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74320" y="1645920"/>
            <a:ext cx="1005840" cy="731520"/>
          </a:xfrm>
          <a:prstGeom prst="rect">
            <a:avLst/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深度融合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7432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AI与实体经济融合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214884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74520" y="1234440"/>
            <a:ext cx="274320" cy="2743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2018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1371600" y="1645920"/>
            <a:ext cx="1005840" cy="731520"/>
          </a:xfrm>
          <a:prstGeom prst="rect">
            <a:avLst/>
          </a:prstGeom>
          <a:solidFill>
            <a:srgbClr val="3B82F6">
              <a:alpha val="15000"/>
            </a:srgbClr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37160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战略制高点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37160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大国竞争的战略领域</a:t>
            </a:r>
            <a:endParaRPr lang="en-US" sz="700" dirty="0"/>
          </a:p>
        </p:txBody>
      </p:sp>
      <p:sp>
        <p:nvSpPr>
          <p:cNvPr id="19" name="Shape 17"/>
          <p:cNvSpPr/>
          <p:nvPr/>
        </p:nvSpPr>
        <p:spPr>
          <a:xfrm>
            <a:off x="324612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971800" y="12344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246888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2019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68880" y="1645920"/>
            <a:ext cx="1005840" cy="7315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头雁效应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4688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带动其他技术发展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34340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69080" y="1234440"/>
            <a:ext cx="274320" cy="2743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356616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566160" y="1645920"/>
            <a:ext cx="1005840" cy="731520"/>
          </a:xfrm>
          <a:prstGeom prst="rect">
            <a:avLst/>
          </a:prstGeom>
          <a:solidFill>
            <a:srgbClr val="0D9488">
              <a:alpha val="15000"/>
            </a:srgbClr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6616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科技自立自强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AI是突破关键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544068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6360" y="12344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466344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663440" y="1645920"/>
            <a:ext cx="1005840" cy="73152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66344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新增长引擎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66344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战略性新兴产业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653796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63640" y="1234440"/>
            <a:ext cx="274320" cy="27432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576072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760720" y="1645920"/>
            <a:ext cx="1005840" cy="731520"/>
          </a:xfrm>
          <a:prstGeom prst="rect">
            <a:avLst/>
          </a:prstGeom>
          <a:solidFill>
            <a:srgbClr val="7C3AED">
              <a:alpha val="15000"/>
            </a:srgbClr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76072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通用AI/向善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576072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AGI+以人为本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635240" y="1371600"/>
            <a:ext cx="82296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360920" y="1234440"/>
            <a:ext cx="274320" cy="2743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85800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858000" y="1645920"/>
            <a:ext cx="1005840" cy="731520"/>
          </a:xfrm>
          <a:prstGeom prst="rect">
            <a:avLst/>
          </a:prstGeom>
          <a:solidFill>
            <a:srgbClr val="DC2626">
              <a:alpha val="15000"/>
            </a:srgbClr>
          </a:solidFill>
          <a:ln w="6350">
            <a:solidFill>
              <a:srgbClr val="DC26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85800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新质生产力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85800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核心引擎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8458200" y="1234440"/>
            <a:ext cx="274320" cy="2743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50" name="Text 48"/>
          <p:cNvSpPr/>
          <p:nvPr/>
        </p:nvSpPr>
        <p:spPr>
          <a:xfrm>
            <a:off x="7955280" y="100584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955280" y="1645920"/>
            <a:ext cx="1005840" cy="731520"/>
          </a:xfrm>
          <a:prstGeom prst="rect">
            <a:avLst/>
          </a:prstGeom>
          <a:solidFill>
            <a:srgbClr val="2563EB">
              <a:alpha val="15000"/>
            </a:srgbClr>
          </a:solidFill>
          <a:ln w="6350">
            <a:solidFill>
              <a:srgbClr val="2563E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955280" y="1691640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核心引擎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7955280" y="2011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新质生产力核心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640080" y="28346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AI全球治理的中国主张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4008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601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以人为本、智能向善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38328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37033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开放合作、共治共享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6126480" y="3200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6446520" y="32004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统筹发展与安全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4008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9601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构建开放、公正、有效的全球AI治理机制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338328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37033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推动AI赋能可持续发展目标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6126480" y="36118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6446520" y="36118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反对技术霸权，主张各国平等参与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中国AI核心政策文件与纲要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10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54864" cy="38404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914400"/>
            <a:ext cx="502920" cy="2743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91440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2017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280160" y="86868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《新一代人工智能发展规划》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280160" y="106984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国务院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931920" y="86868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"三步走"战略：2020同步→2025部分领先→2030总体领先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1353312"/>
            <a:ext cx="54864" cy="384048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4" name="Shape 12"/>
          <p:cNvSpPr/>
          <p:nvPr/>
        </p:nvSpPr>
        <p:spPr>
          <a:xfrm>
            <a:off x="640080" y="1399032"/>
            <a:ext cx="502920" cy="27432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139903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280160" y="135331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十四五规划 &amp; 2035远景目标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280160" y="155448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全国人大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931920" y="1353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AI列为前沿科技攻关重点方向，首个AI核心五年规划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" y="1837944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1883664"/>
            <a:ext cx="502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188366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280160" y="183794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"十四五"医药工业发展规划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280160" y="203911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工信部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931920" y="183794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推动AI在药物研发和医疗器械领域的创新应用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322576"/>
            <a:ext cx="54864" cy="38404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40080" y="2368296"/>
            <a:ext cx="502920" cy="2743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2368296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280160" y="23225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AI医疗器械注册审查指导原则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280160" y="2523744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NMPA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3931920" y="232257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"算力-算法-数据"三位一体评价框架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57200" y="2807208"/>
            <a:ext cx="5486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2852928"/>
            <a:ext cx="502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2852928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280160" y="2807208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二十届三中全会《决定》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280160" y="300837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中共中央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31920" y="280720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首次AI发展与治理并重写入中央全会决定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57200" y="3291840"/>
            <a:ext cx="54864" cy="384048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8" name="Shape 36"/>
          <p:cNvSpPr/>
          <p:nvPr/>
        </p:nvSpPr>
        <p:spPr>
          <a:xfrm>
            <a:off x="640080" y="3337560"/>
            <a:ext cx="50292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9" name="Text 37"/>
          <p:cNvSpPr/>
          <p:nvPr/>
        </p:nvSpPr>
        <p:spPr>
          <a:xfrm>
            <a:off x="640080" y="333756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1280160" y="329184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《"人工智能+"行动意见》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280160" y="3493008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国务院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931920" y="329184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强化算力统筹，推动AI全环节落地，发展智能终端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57200" y="3776472"/>
            <a:ext cx="54864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4" name="Shape 42"/>
          <p:cNvSpPr/>
          <p:nvPr/>
        </p:nvSpPr>
        <p:spPr>
          <a:xfrm>
            <a:off x="640080" y="3822192"/>
            <a:ext cx="5029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5" name="Text 43"/>
          <p:cNvSpPr/>
          <p:nvPr/>
        </p:nvSpPr>
        <p:spPr>
          <a:xfrm>
            <a:off x="640080" y="3822192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1280160" y="3776472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"人工智能+制造"专项行动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1280160" y="3977640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工信部等八部门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3931920" y="37764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2027年推广500个典型应用场景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457200" y="4261104"/>
            <a:ext cx="54864" cy="38404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0" name="Shape 48"/>
          <p:cNvSpPr/>
          <p:nvPr/>
        </p:nvSpPr>
        <p:spPr>
          <a:xfrm>
            <a:off x="640080" y="4306824"/>
            <a:ext cx="502920" cy="27432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1" name="Text 49"/>
          <p:cNvSpPr/>
          <p:nvPr/>
        </p:nvSpPr>
        <p:spPr>
          <a:xfrm>
            <a:off x="640080" y="4306824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1280160" y="4261104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"数据要素×"三年行动计划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1280160" y="446227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国家数据局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3931920" y="426110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打造高质量数据集，培育数据产业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57200" y="4251960"/>
            <a:ext cx="8229600" cy="41148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27939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2026年"十五五"规划：AI作为"抢占未来竞争优势的战略方向"  |  AI企业超6,000家，核心产业规模突破1.2万亿元（2025年）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第1章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时政支持与最新举措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顶层设计与战略部署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政治局多次集体学习AI专题（2018、2023、2025）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习近平连续7年向WAIC致贺信（2018-2025）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二十届三中全会：AI发展与治理并重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"新质生产力"核心引擎定位（2024.01）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"十五五"规划：AI是战略方向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AI安全治理专题指示（2026.02）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926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产业支持与生态建设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37160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42个万卡智算集群建成，算力超1,590 EFLOPS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AI核心产业规模突破1.2万亿元（2025）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AI企业超6,000家，专利占全球60%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7个国家级数据标注基地建设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高质量行业数据集超500个（医疗、工业等）</a:t>
            </a:r>
            <a:endParaRPr lang="en-US" sz="10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"人工智能+制造"：2027年500个典型场景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4069080"/>
            <a:ext cx="8229600" cy="59436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1480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核心数据亮点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43434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2025年AI核心产业规模突破1.2万亿元 · 国产开源大模型全球下载超100亿次 · 日均Token消耗30万亿（18个月增长300倍）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法规和监管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18288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China NMPA · US FDA · EU MDR + AI Act · Global Governance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 NMPA 监管体系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09728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97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9875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《人工智能医疗器械注册审查指导原则》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34440" y="12801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年第 50 号通告 — 核心指南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480560" y="128016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定义 AI 医疗器械，提出"算力-算法-数据"三位一体评价框架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05740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34440" y="19476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《医疗器械软件注册技术审查指导原则》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34440" y="224028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 年修订版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480560" y="2240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明确软件医疗器械分类规则和注册要求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83464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301752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29077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医疗器械分类目录（2023 年更新）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34440" y="320040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新增 AI 辅助诊断软件分类条目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480560" y="320040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医学影像类产品普遍归为 II 类或 III 类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794760"/>
            <a:ext cx="822960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34440" y="38679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辅助检测临床评价指导原则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234440" y="416052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年征求意见稿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480560" y="416052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 AI 辅助检测类产品的临床评价具体要求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931920"/>
            <a:ext cx="8229600" cy="50292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397764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截至 2025 年初：已有超过 100 个 AI 医疗器械产品获得 NMPA 注册批准  |  2024 年 NMPA 进一步优化 AI 软件注册流程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美国 FDA 监管框架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13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AI/ML-Based SaMD 框架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371600"/>
            <a:ext cx="731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定制化监管框架 (Tailored Framework)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731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78308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良好的机器学习实践 (GMLP)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94560"/>
            <a:ext cx="731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19456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患者为中心的透明度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06040"/>
            <a:ext cx="73152" cy="320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真实世界性能监测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777240"/>
            <a:ext cx="3931920" cy="3794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937760" y="868680"/>
            <a:ext cx="3566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预定变更控制计划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(PCCP)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1417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允许 AI/ML 医疗器械在上市后通过 PCCP 进行持续学习和迭代更新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120640" y="1874520"/>
            <a:ext cx="3200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变更描述：变更类型和范围的详细描述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修改协议：开发、验证、验证方法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306324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影响评估：对安全性和有效性的影响评估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840480"/>
            <a:ext cx="8229600" cy="54864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8862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 已批准超过 1,000 个 AI/ML 医疗器械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年新增约 250 个 (增长 40%)  |  放射学占比 ~75%  |  ~97% 为 510(k) 途径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欧盟监管体系：MDR + EU AI Act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14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MDR (EU 2017/745)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173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全面实施：2021 年 5 月 26 日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11：专门针对医疗软件分类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更严格的临床评价 (Annex XIV)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公告机构 (Notified Body) 监督强化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 AI Act (2024)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173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年 8 月 1 日正式生效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 年 8 月全面实施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医疗器械归为"高风险 AI 系统"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须同时满足 EU AI Act + MDR/IVDR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监管协同：MDR 已注册的 AI 医疗器械被视为已符合 EU AI Act 的高风险 AI 系统要求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中美欧 AI 医疗器械法规对比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15</a:t>
            </a:r>
            <a:endParaRPr lang="en-US" sz="8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377440"/>
                <a:gridCol w="2377440"/>
                <a:gridCol w="237744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维度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中国 (NMPA)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美国 (FDA)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欧盟 (EU)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核心法规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医疗器械注册审查指导原则 (2022)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SaMD Action Plan (2021/2023)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MDR + EU AI Act (2024)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分类方法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基于风险 (II 类 / III 类)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基于风险 (II 类 / III 类)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基于风险 (Class IIa/IIb/III)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更新机制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指导原则定期修订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PCCP 预定变更控制计划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通过 MDR 修订 + AI Act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临床评价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临床试验或真实世界数据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临床性能数据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临床评价 (Annex XIV)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专门指南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已发布专门指导原则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AI/ML 行动计划 + GMLP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MDCG 指南 (2024 年更新中)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关键国际文件与标准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731520" y="1005840"/>
            <a:ext cx="768096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IMDRF "Software as a Medical Device" (SaMD) 框架 (2014-2020)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WHO《Ethics and Governance of AI for Health》(2021)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IEEE 2801-2022 医学人工智能数据集质量管理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22989 人工智能概念与术语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23053 AI 系统框架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14971:2019 医疗器械风险管理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人工智能医疗器械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设计开发要点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3291840"/>
            <a:ext cx="1828800" cy="0"/>
          </a:xfrm>
          <a:prstGeom prst="line">
            <a:avLst/>
          </a:prstGeom>
          <a:noFill/>
          <a:ln w="31750">
            <a:solidFill>
              <a:srgbClr val="7C3A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 · Risk Management · AI Literacy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医疗器械全生命周期流程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17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NMPA《人工智能医疗器械注册审查指导原则》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143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143000"/>
            <a:ext cx="1463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216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需求分析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103120" y="1143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240280" y="1143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240280" y="1143000"/>
            <a:ext cx="1463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240280" y="1216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数据采集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03320" y="1143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840480" y="1143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0" y="1143000"/>
            <a:ext cx="1463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3840480" y="1216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数据预处理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0" y="1143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40680" y="1143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40680" y="1143000"/>
            <a:ext cx="1463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216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模型设计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/选型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903720" y="1143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040880" y="1143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040880" y="1143000"/>
            <a:ext cx="14630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7040880" y="1216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模型训练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40180" y="2286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440180" y="228600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Text 27"/>
          <p:cNvSpPr/>
          <p:nvPr/>
        </p:nvSpPr>
        <p:spPr>
          <a:xfrm>
            <a:off x="1440180" y="2359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模型验证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903220" y="2286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3040380" y="2286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040380" y="228600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3040380" y="2359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模型确认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03420" y="2286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4640580" y="2286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40580" y="228600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5"/>
          <p:cNvSpPr/>
          <p:nvPr/>
        </p:nvSpPr>
        <p:spPr>
          <a:xfrm>
            <a:off x="4640580" y="2359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临床评价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03620" y="2286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240780" y="2286000"/>
            <a:ext cx="146304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40780" y="2286000"/>
            <a:ext cx="146304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1" name="Text 39"/>
          <p:cNvSpPr/>
          <p:nvPr/>
        </p:nvSpPr>
        <p:spPr>
          <a:xfrm>
            <a:off x="6240780" y="2359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注册申报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040380" y="3429000"/>
            <a:ext cx="146304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3040380" y="3429000"/>
            <a:ext cx="1463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4" name="Text 42"/>
          <p:cNvSpPr/>
          <p:nvPr/>
        </p:nvSpPr>
        <p:spPr>
          <a:xfrm>
            <a:off x="3040380" y="3502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上市后监管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03420" y="3429000"/>
            <a:ext cx="137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4640580" y="3429000"/>
            <a:ext cx="1463040" cy="777240"/>
          </a:xfrm>
          <a:prstGeom prst="rect">
            <a:avLst/>
          </a:prstGeom>
          <a:solidFill>
            <a:srgbClr val="DBEAFE"/>
          </a:solidFill>
          <a:ln/>
          <a:effectLst>
            <a:outerShdw sx="100000" sy="100000" kx="0" ky="0" algn="bl" rotWithShape="0" blurRad="25400" dist="12700" dir="162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40580" y="3429000"/>
            <a:ext cx="146304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8" name="Text 46"/>
          <p:cNvSpPr/>
          <p:nvPr/>
        </p:nvSpPr>
        <p:spPr>
          <a:xfrm>
            <a:off x="4640580" y="3502152"/>
            <a:ext cx="1463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持续更新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迭代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297680" y="1965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297680" y="3063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4748B"/>
                </a:solidFill>
              </a:rPr>
              <a:t>↓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45720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关键设计环节：需求分析 → 数据管理 → 算法设计 → 验证确认 → 临床评价 → 持续更新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数据管理关键要素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18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1005840"/>
            <a:ext cx="365760" cy="3657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005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914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数据来源合法性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123444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受试者知情同意、伦理审查、数据授权链完整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数据标注规范性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196596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标注指南、标注者资质、多重标注一致性审核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468880"/>
            <a:ext cx="365760" cy="36576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05840" y="23774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数据多样性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26974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覆盖不同人群、不同设备、不同采集条件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20040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05840" y="3108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数据偏差控制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342900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避免选择偏倚、测量偏倚、标注偏倚，代表目标人群分布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3931920"/>
            <a:ext cx="365760" cy="36576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05840" y="3840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数据安全与隐私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" y="416052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符合《个人信息保护法》《数据安全法》，数据脱敏与加密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算法验证与临床确认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19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算法性能验证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008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数据集划分 (训练/验证/测试)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 (敏感度、特异度、AUC等)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对抗性测试与边界条件测试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鲁棒性评估 (噪声、图像质量变化)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亚组分析 (年龄、性别、疾病亚型)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914400"/>
            <a:ext cx="393192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0058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临床确认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661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临床试验或临床评价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与金标准/现有方法对比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多中心验证 (至少 3 家中心)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前瞻性和回顾性研究设计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样本量计算需基于统计功效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性能指标参考：敏感度 ≥ 90%  |  特异度 ≥ 85%  |  AUC ≥ 0.95  (具体指标由临床需求决定)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医疗器械风险管理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20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ISO 14971:2019，风险分析 → 风险评价 → 风险控制 → 综合剩余风险评价 → 风险管理报告</a:t>
            </a:r>
            <a:endParaRPr lang="en-US" sz="10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4754880"/>
              </a:tblGrid>
              <a:tr h="3200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风险类别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潜在影响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控制措施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算法偏差 (Bias)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误诊/漏诊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多样化数据采集 + 亚组分析 + 公平性评估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数据集漂移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模型性能退化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持续监测 + 自适应校准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对抗性攻击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安全性事件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对抗训练 + 输入验证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黑箱问题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临床信任度低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XAI 技术 + 决策路径可视化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过拟合/欠拟合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泛化能力不足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独立测试集 + 交叉验证 + 正则化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概念漂移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模型逐渐失效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定期重训练 + 触发式更新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人类过度依赖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EAF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自动化偏差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界面设计 + 人机协同机制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素养要求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21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14400"/>
            <a:ext cx="393192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技术能力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371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ML/DL 理论基础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模型开发框架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数据科学能力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安全与鲁棒性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9144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63440" y="914400"/>
            <a:ext cx="3931920" cy="457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051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医疗器械专业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46320" y="13716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NMPA 注册要求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13485 QMS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14971 风险管理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临床评价方法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7432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743200"/>
            <a:ext cx="3931920" cy="457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交叉学科能力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008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医学基础知识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数据标注规范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医学统计学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临床路径理解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63440" y="2743200"/>
            <a:ext cx="3931920" cy="457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28803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伦理与合规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0" y="3200400"/>
            <a:ext cx="35661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伦理原则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数据隐私法规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知情同意审查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可解释性要求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质量管理体系建设要点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22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7315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914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设计控制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85800" y="11887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特有的设计输入（数据、算法、性能指标），建立完整的设计历史文档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7315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16642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软件验证与确认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85800" y="193852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模型验证的特殊性（统计方法、数据要求、独立测试集）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2414016"/>
            <a:ext cx="7315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41401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变更管理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2688336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模型更新机制（PCCP 机制与传统变更控制的结合）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163824"/>
            <a:ext cx="7315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16382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供应商管理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85800" y="343814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第三方数据提供商、AI 算法供应商的质量控制与审核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13632"/>
            <a:ext cx="73152" cy="5486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91363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文档化要求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85800" y="418795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数据管理文档、模型开发文档、验证确认文档、风险管理文档、临床评价文档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1097280" cy="320040"/>
          </a:xfrm>
          <a:prstGeom prst="rect">
            <a:avLst/>
          </a:prstGeom>
          <a:solidFill>
            <a:srgbClr val="2563E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第3章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91640" y="1828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中国特色要求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658368"/>
            <a:ext cx="82296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人工智能医疗器械设计开发要点  |  23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457200" y="914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国产化和自主可控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医疗器械核心技术自主创新要求，鼓励国产替代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914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33756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🔬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47472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中检院评测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47472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医疗器械注册检验中的 AI 性能评测，中检院 AI 实验室建设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217920" y="91440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0" y="1051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🏷️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6355080" y="1463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UDI 唯一标识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55080" y="178308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软件医疗器械的 UDI 追溯体系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697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59436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网络安全等保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9436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医疗系统的网络安全等级保护要求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37560" y="2697480"/>
            <a:ext cx="26517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25400" dist="12700" dir="16200000">
              <a:srgbClr val="000000">
                <a:alpha val="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337560" y="283464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📊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3474720" y="3246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数据安全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474720" y="35661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《数据安全法》《个人信息保护法》对医疗健康数据的特殊要求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谢谢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1920240"/>
            <a:ext cx="18288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基于 NMPA《人工智能医疗器械注册审查指导原则》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及中美欧 AI 医疗器械法规体系整理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参考来源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NMPA / FDA / European Commission · 国务院 · ISO 14971 · WHO · IMDRF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人工智能医疗器械设计开发要点</dc:title>
  <dc:subject>PptxGenJS Presentation</dc:subject>
  <dc:creator>AI Eval Platform</dc:creator>
  <cp:lastModifiedBy>AI Eval Platform</cp:lastModifiedBy>
  <cp:revision>1</cp:revision>
  <dcterms:created xsi:type="dcterms:W3CDTF">2026-05-19T16:30:09Z</dcterms:created>
  <dcterms:modified xsi:type="dcterms:W3CDTF">2026-05-19T16:30:09Z</dcterms:modified>
</cp:coreProperties>
</file>